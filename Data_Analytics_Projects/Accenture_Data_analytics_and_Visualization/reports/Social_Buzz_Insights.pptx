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6D"/>
                </a:solidFill>
                <a:latin typeface="Calibri"/>
              </a:rPr>
              <a:t>FORAGE  ·  ACCENTURE VIRTUAL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2833"/>
                </a:solidFill>
                <a:latin typeface="Calibri"/>
              </a:rPr>
              <a:t>What people react to
on Social Buzz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D6D7E"/>
                </a:solidFill>
                <a:latin typeface="Calibri"/>
              </a:rPr>
              <a:t>Top 5 content categories by popularity score
22,534 reactions  ·  962 posts  ·  Jun 2020 – Jun 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2C6F"/>
                </a:solidFill>
                <a:latin typeface="Calibri"/>
              </a:rPr>
              <a:t>Maqsood Ansari  ·  Data Analyst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Social Buzz  ·  content popularity  ·  Forage / Accenture 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1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2C6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898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833"/>
                </a:solidFill>
                <a:latin typeface="Calibri"/>
              </a:rPr>
              <a:t>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190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Calibri"/>
              </a:rPr>
              <a:t>Why Social Buzz asked for a category ranking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12471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048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2C6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3500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833"/>
                </a:solidFill>
                <a:latin typeface="Calibri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791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Calibri"/>
              </a:rPr>
              <a:t>What is in the sample and how I cleaned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112471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6499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2C6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101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833"/>
                </a:solidFill>
                <a:latin typeface="Calibri"/>
              </a:rPr>
              <a:t>Top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63931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Calibri"/>
              </a:rPr>
              <a:t>Popularity score, not raw reaction 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112471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2511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2C6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702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833"/>
                </a:solidFill>
                <a:latin typeface="Calibri"/>
              </a:rPr>
              <a:t>Extras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5994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Calibri"/>
              </a:rPr>
              <a:t>Sentiment, format, and a quiet month pattern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85231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2C6F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230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833"/>
                </a:solidFill>
                <a:latin typeface="Calibri"/>
              </a:rPr>
              <a:t>So what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5595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Calibri"/>
              </a:rPr>
              <a:t>Three things a content team could try next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Social Buzz  ·  content popularity  ·  Forage / Accenture 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Project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Social Buzz is a fast-growing social platform. This Forage brief is a three-month POC story with three workstreams. This analysis is the third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61188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611880" cy="109728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B2C6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2833"/>
                </a:solidFill>
                <a:latin typeface="Calibri"/>
              </a:rPr>
              <a:t>Big data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49039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D6D7E"/>
                </a:solidFill>
                <a:latin typeface="Calibri"/>
              </a:rPr>
              <a:t>How they handle volume. Not this deck.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103120"/>
            <a:ext cx="361188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103120"/>
            <a:ext cx="3611880" cy="109728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B2C6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926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2833"/>
                </a:solidFill>
                <a:latin typeface="Calibri"/>
              </a:rPr>
              <a:t>IPO readiness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749039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D6D7E"/>
                </a:solidFill>
                <a:latin typeface="Calibri"/>
              </a:rPr>
              <a:t>Process and controls. Not this deck.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103120"/>
            <a:ext cx="361188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103120"/>
            <a:ext cx="3611880" cy="109728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B2C6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926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2833"/>
                </a:solidFill>
                <a:latin typeface="Calibri"/>
              </a:rPr>
              <a:t>Top 5 categories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D6D7E"/>
                </a:solidFill>
                <a:latin typeface="Calibri"/>
              </a:rPr>
              <a:t>This deck. Score the sample and rank topics.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Social Buzz  ·  content popularity  ·  Forage / Accenture 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The client story is 100,000+ posts a day. That is too much to steer by gut. The ask for this sample is simple: which categories actually get love?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B2C6F"/>
                </a:solidFill>
                <a:latin typeface="Calibri"/>
              </a:rPr>
              <a:t>100k+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57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D6D7E"/>
                </a:solidFill>
                <a:latin typeface="Calibri"/>
              </a:rPr>
              <a:t>posts / day  (client context)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37744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6060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B2C6F"/>
                </a:solidFill>
                <a:latin typeface="Calibri"/>
              </a:rPr>
              <a:t>22,534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657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D6D7E"/>
                </a:solidFill>
                <a:latin typeface="Calibri"/>
              </a:rPr>
              <a:t>reactions in this sample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37744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6060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B2C6F"/>
                </a:solidFill>
                <a:latin typeface="Calibri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657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D6D7E"/>
                </a:solidFill>
                <a:latin typeface="Calibri"/>
              </a:rPr>
              <a:t>categories after cleaning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237744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6060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B2C6F"/>
                </a:solidFill>
                <a:latin typeface="Calibri"/>
              </a:rPr>
              <a:t>sum of 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657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D6D7E"/>
                </a:solidFill>
                <a:latin typeface="Calibri"/>
              </a:rPr>
              <a:t>definition of “popular”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  <a:latin typeface="Calibri"/>
              </a:rPr>
              <a:t>I do not treat reaction count as popularity. A peek (35) is not a super-love (75). Ranking uses the score table that came with the reaction types.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Social Buzz  ·  content popularity  ·  Forage / Accenture 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Joined Content × Reactions × Reaction types. One row = one reaction. Window: 18 Jun 2020 – 18 Jun 2021.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3035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848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2C6F"/>
                </a:solidFill>
                <a:latin typeface="Calibri"/>
              </a:rPr>
              <a:t>22,534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reactions (no nulls, no duplicate rows)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53035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3649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2C6F"/>
                </a:solidFill>
                <a:latin typeface="Calibri"/>
              </a:rPr>
              <a:t>962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94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distinct posts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80560"/>
            <a:ext cx="53035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6451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2C6F"/>
                </a:solidFill>
                <a:latin typeface="Calibri"/>
              </a:rPr>
              <a:t>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074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users who reacted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20240"/>
            <a:ext cx="53035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0848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2C6F"/>
                </a:solidFill>
                <a:latin typeface="Calibri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514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categories after stripping quotes and lowercasing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200400"/>
            <a:ext cx="53035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3649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2C6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794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formats: photo, video, GIF, audio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480560"/>
            <a:ext cx="53035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6451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2C6F"/>
                </a:solidFill>
                <a:latin typeface="Calibri"/>
              </a:rPr>
              <a:t>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074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reaction types, scores 0 to 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Social Buzz  ·  content popularity  ·  Forage / Accenture 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212848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212848" cy="109728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B2C6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833"/>
                </a:solidFill>
                <a:latin typeface="Calibri"/>
              </a:rP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1752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Read the six-table model. Only Content, Reactions, and scores are needed for the ranking.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6624" y="1371600"/>
            <a:ext cx="2212848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06624" y="1371600"/>
            <a:ext cx="2212848" cy="109728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3784" y="1645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B2C6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3784" y="22860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833"/>
                </a:solidFill>
                <a:latin typeface="Calibri"/>
              </a:rPr>
              <a:t>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3784" y="301752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Drop unused User/Profile tables. Fix "animals" vs Animals. Parse dates day-first.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7488" y="1371600"/>
            <a:ext cx="2212848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47488" y="1371600"/>
            <a:ext cx="2212848" cy="109728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4648" y="1645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B2C6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2860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833"/>
                </a:solidFill>
                <a:latin typeface="Calibri"/>
              </a:rPr>
              <a:t>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301752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Popularity = sum(Reaction_Score) by category.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52" y="1371600"/>
            <a:ext cx="2212848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1371600"/>
            <a:ext cx="2212848" cy="109728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5512" y="1645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B2C6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512" y="22860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833"/>
                </a:solidFill>
                <a:latin typeface="Calibri"/>
              </a:rPr>
              <a:t>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301752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Compare count vs score, sentiment, format, month.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29216" y="1371600"/>
            <a:ext cx="2212848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29216" y="1371600"/>
            <a:ext cx="2212848" cy="109728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66376" y="1645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B2C6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6376" y="22860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833"/>
                </a:solidFill>
                <a:latin typeface="Calibri"/>
              </a:rPr>
              <a:t>Tell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66376" y="301752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Five headlines + a short recommendation.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Social Buzz  ·  content popularity  ·  Forage / Accenture 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Four numbers worth keeping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4688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123444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1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B2C6F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D7E"/>
                </a:solidFill>
                <a:latin typeface="Calibri"/>
              </a:rPr>
              <a:t>categories (quoted labels merged)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4688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73152" cy="123444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44751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B2C6F"/>
                </a:solidFill>
                <a:latin typeface="Calibri"/>
              </a:rPr>
              <a:t>1,738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65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D7E"/>
                </a:solidFill>
                <a:latin typeface="Calibri"/>
              </a:rPr>
              <a:t>Animals reactions — count, not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4688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73152" cy="123444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444751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B2C6F"/>
                </a:solidFill>
                <a:latin typeface="Calibri"/>
              </a:rPr>
              <a:t>68,624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65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D7E"/>
                </a:solidFill>
                <a:latin typeface="Calibri"/>
              </a:rPr>
              <a:t>Animals popularity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4688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1280160"/>
            <a:ext cx="73152" cy="123444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444751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B2C6F"/>
                </a:solidFill>
                <a:latin typeface="Calibri"/>
              </a:rPr>
              <a:t>May 2021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965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D7E"/>
                </a:solidFill>
                <a:latin typeface="Calibri"/>
              </a:rPr>
              <a:t>busiest month (1,954 reactions)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788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D6D7E"/>
                </a:solidFill>
                <a:latin typeface="Calibri"/>
              </a:rPr>
              <a:t>The old “1,738 popularity score” figure was the reaction count. Score is ~40× larger.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83280"/>
            <a:ext cx="112471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566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833"/>
                </a:solidFill>
                <a:latin typeface="Calibri"/>
              </a:rPr>
              <a:t>Also true in this sample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0233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•  Top 5 share of all score: 36.0%. The tail is long — travel, cooking, culture sit just under Food.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80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•  2020 has 12,195 reactions vs 10,339 in 2021. The file is mid-year to mid-year, so this is not a “lockdown year” claim.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37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•  May is the peak month, but January is 5 reactions behind. Do not overfit a season story.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•  56.2% of reactions are positive. That mix is similar inside every top-5 category.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Social Buzz  ·  content popularity  ·  Forage / Accenture 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Top 5 categories by popularity score</a:t>
            </a:r>
          </a:p>
        </p:txBody>
      </p:sp>
      <p:pic>
        <p:nvPicPr>
          <p:cNvPr id="5" name="Picture 4" descr="top5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949440" cy="5120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98079" y="1280160"/>
            <a:ext cx="420624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463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D6D7E"/>
                </a:solidFill>
                <a:latin typeface="Calibri"/>
              </a:rPr>
              <a:t>Rank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9659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2C6F"/>
                </a:solidFill>
                <a:latin typeface="Calibri"/>
              </a:rPr>
              <a:t>1  Animals            68,624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4688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833"/>
                </a:solidFill>
                <a:latin typeface="Calibri"/>
              </a:rPr>
              <a:t>2  Science            65,405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9718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833"/>
                </a:solidFill>
                <a:latin typeface="Calibri"/>
              </a:rPr>
              <a:t>3  Healthy eating     63,138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474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833"/>
                </a:solidFill>
                <a:latin typeface="Calibri"/>
              </a:rPr>
              <a:t>4  Technology         63,035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97763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833"/>
                </a:solidFill>
                <a:latin typeface="Calibri"/>
              </a:rPr>
              <a:t>5  Food               61,598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66344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Healthy eating sits above Food. Science sits above Technology. Gaps inside the top 5 are small.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Social Buzz  ·  content popularity  ·  Forage / Accenture 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top 5 are close. The tail is not empty.</a:t>
            </a:r>
          </a:p>
        </p:txBody>
      </p:sp>
      <p:pic>
        <p:nvPicPr>
          <p:cNvPr id="5" name="Picture 4" descr="top5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760720" cy="5212080"/>
          </a:xfrm>
          <a:prstGeom prst="rect">
            <a:avLst/>
          </a:prstGeom>
        </p:spPr>
      </p:pic>
      <p:pic>
        <p:nvPicPr>
          <p:cNvPr id="6" name="Picture 5" descr="score_by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43000"/>
            <a:ext cx="576072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Social Buzz  ·  content popularity  ·  Forage / Accenture 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Two extra cuts</a:t>
            </a:r>
          </a:p>
        </p:txBody>
      </p:sp>
      <p:pic>
        <p:nvPicPr>
          <p:cNvPr id="5" name="Picture 4" descr="sentiment_to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852160" cy="3657600"/>
          </a:xfrm>
          <a:prstGeom prst="rect">
            <a:avLst/>
          </a:prstGeom>
        </p:spPr>
      </p:pic>
      <p:pic>
        <p:nvPicPr>
          <p:cNvPr id="6" name="Picture 5" descr="score_by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57784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920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</a:rPr>
              <a:t>Sentiment does not explain the ranking — every top category is ~56–58% positive. Format does: photos hold the most total score (241,090). Animals is unusually photo-heavy (35% of its reactions). Technology is more GIF/audio than video.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Social Buzz  ·  content popularity  ·  Forage / Accenture 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Reactions by month</a:t>
            </a:r>
          </a:p>
        </p:txBody>
      </p:sp>
      <p:pic>
        <p:nvPicPr>
          <p:cNvPr id="5" name="Picture 4" descr="reactions_by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492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Calibri"/>
              </a:rPr>
              <a:t>Peak is May 2021 (1,954). The line is fairly flat — no month is a collapse. I would not sell a “holiday season” campaign off this sample alone.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Social Buzz  ·  content popularity  ·  Forage / Accenture 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 would do with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37033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91440" cy="233172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833"/>
                </a:solidFill>
                <a:latin typeface="Calibri"/>
              </a:rPr>
              <a:t>Animals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Highest score and most reactions. Nature / pet creators are the obvious partnership list.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34440"/>
            <a:ext cx="37033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34440"/>
            <a:ext cx="91440" cy="2331720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1732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833"/>
                </a:solidFill>
                <a:latin typeface="Calibri"/>
              </a:rPr>
              <a:t>Food is two buckets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Healthy eating beats Food. A wellness brand fit is closer than a generic restaurant campaign.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234440"/>
            <a:ext cx="37033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234440"/>
            <a:ext cx="91440" cy="233172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41732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833"/>
                </a:solidFill>
                <a:latin typeface="Calibri"/>
              </a:rPr>
              <a:t>Science + 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01168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Together they almost match Animals. How-to and explainers are not a niche here.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749039"/>
            <a:ext cx="37033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749039"/>
            <a:ext cx="91440" cy="2331720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833"/>
                </a:solidFill>
                <a:latin typeface="Calibri"/>
              </a:rPr>
              <a:t>Watch volume, not vibe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26279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Mean score is ~40 everywhere. To move the ranking you need more posts (or more reactions), not “better” emojis.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749039"/>
            <a:ext cx="37033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749039"/>
            <a:ext cx="91440" cy="2331720"/>
          </a:xfrm>
          <a:prstGeom prst="rect">
            <a:avLst/>
          </a:prstGeom>
          <a:solidFill>
            <a:srgbClr val="1A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93192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833"/>
                </a:solidFill>
                <a:latin typeface="Calibri"/>
              </a:rPr>
              <a:t>Do not stop at five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26279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Travel, cooking and culture are within ~8k points of Food. A six-month refresh should include them.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3749039"/>
            <a:ext cx="37033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3749039"/>
            <a:ext cx="91440" cy="2331720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393192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833"/>
                </a:solidFill>
                <a:latin typeface="Calibri"/>
              </a:rPr>
              <a:t>Next measurement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526279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This is a static sample. Production would score categories weekly and split by format.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Social Buzz  ·  content popularity  ·  Forage / Accenture 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